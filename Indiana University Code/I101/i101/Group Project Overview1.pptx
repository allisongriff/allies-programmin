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81" r:id="rId6"/>
    <p:sldId id="296" r:id="rId7"/>
    <p:sldId id="277" r:id="rId8"/>
    <p:sldId id="304" r:id="rId9"/>
    <p:sldId id="297" r:id="rId10"/>
    <p:sldId id="298" r:id="rId11"/>
    <p:sldId id="279" r:id="rId12"/>
    <p:sldId id="303" r:id="rId13"/>
    <p:sldId id="30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8872"/>
    <a:srgbClr val="A7CF91"/>
    <a:srgbClr val="BDC8AE"/>
    <a:srgbClr val="74B28D"/>
    <a:srgbClr val="C8C0B4"/>
    <a:srgbClr val="446992"/>
    <a:srgbClr val="F8F6F5"/>
    <a:srgbClr val="AEC2D8"/>
    <a:srgbClr val="98432A"/>
    <a:srgbClr val="D84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C7F33-3D18-D2A7-8509-B8F16ED118DD}" v="75" dt="2024-11-14T21:21:11.696"/>
    <p1510:client id="{2F3517AE-E1F6-F836-88A4-9D05F56E37C0}" v="808" dt="2024-11-13T22:43:49.224"/>
    <p1510:client id="{32DFD679-A32E-740A-BFF1-3A61A7A31222}" v="142" dt="2024-11-14T22:07:49.237"/>
    <p1510:client id="{3441228E-DDF6-48E2-F9CE-3FB7C1BB0C14}" v="137" dt="2024-11-14T21:35:31.735"/>
    <p1510:client id="{70B45623-06AD-7617-4523-45C2F366A53F}" v="18" dt="2024-11-14T22:04:30.365"/>
    <p1510:client id="{8A78E7B0-F609-0FBE-CF5D-E81CCB4CF4B6}" v="14" dt="2024-11-14T21:27:16.919"/>
    <p1510:client id="{A0E01AC9-3665-E49C-386C-9C28B7C30D07}" v="87" dt="2024-11-14T21:51:42.578"/>
    <p1510:client id="{A0FB5E73-98C4-A342-666E-8D7F6245B7D9}" v="583" dt="2024-11-14T22:10:13.123"/>
    <p1510:client id="{D8D60DFF-7AEE-E0A3-2404-BDBC4494F83C}" v="179" dt="2024-11-13T22:51:10.326"/>
    <p1510:client id="{E2A7DD38-CF6C-4883-B91A-C9A4F5418609}" v="1000" dt="2024-11-14T22:10:28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1075" y="192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61DD8-56E8-44DB-8D68-9188DEA5050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C781-2765-427A-A960-385CE0D0C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537744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Talk about how Margaret Hamilton's innovations have impacted modern day technology. Expand on the three things listed above (explain what some of them 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8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How do we see Margaret Hamilton's innovations being beneficial to the technology field in the future? Two examples of future uses are fault-tolerant AI systems and quantum computing. Explain what both of those things are and what things could be added/created to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/>
              <a:t>Click to edit </a:t>
            </a:r>
            <a:r>
              <a:rPr lang="en-US" altLang="zh-CN"/>
              <a:t>Text</a:t>
            </a:r>
            <a:r>
              <a:rPr lang="zh-CN" altLang="en-US"/>
              <a:t> </a:t>
            </a:r>
            <a:r>
              <a:rPr lang="en-US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A6DB5FA0-5112-CF6B-A418-66FE3200A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08851" y="4932372"/>
            <a:ext cx="818979" cy="97795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72199C8-E5A6-3159-3FB8-6AC348AAD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3004" y="117314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38100" cap="flat" cmpd="sng" algn="ctr">
            <a:solidFill>
              <a:srgbClr val="74B28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9D2A03BF-8C4C-DC9C-3A5E-71030CEA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205" y="3722923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38100" cap="flat" cmpd="sng" algn="ctr">
            <a:solidFill>
              <a:srgbClr val="74B28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8" name="Picture placeholder 29">
            <a:extLst>
              <a:ext uri="{FF2B5EF4-FFF2-40B4-BE49-F238E27FC236}">
                <a16:creationId xmlns:a16="http://schemas.microsoft.com/office/drawing/2014/main" id="{8F223518-7330-E8F6-609E-911F86D13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89" r="15089"/>
          <a:stretch/>
        </p:blipFill>
        <p:spPr>
          <a:xfrm>
            <a:off x="10173172" y="4393167"/>
            <a:ext cx="2044534" cy="2351222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220" y="1986925"/>
            <a:ext cx="5299834" cy="2057441"/>
          </a:xfrm>
        </p:spPr>
        <p:txBody>
          <a:bodyPr/>
          <a:lstStyle/>
          <a:p>
            <a:r>
              <a:rPr lang="en-US" altLang="zh-CN" dirty="0"/>
              <a:t>i101 Semester Project Overview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84764" y="4172084"/>
            <a:ext cx="3563309" cy="7602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Isabelle Himebaugh, Peri Small, Allison Griffan, and Diego Gifford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4"/>
          <a:srcRect t="6323" b="6323"/>
          <a:stretch/>
        </p:blipFill>
        <p:spPr>
          <a:xfrm>
            <a:off x="6868767" y="895827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493770" y="274677"/>
            <a:ext cx="818979" cy="97795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446992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1" name="Picture placeholder 29">
            <a:extLst>
              <a:ext uri="{FF2B5EF4-FFF2-40B4-BE49-F238E27FC236}">
                <a16:creationId xmlns:a16="http://schemas.microsoft.com/office/drawing/2014/main" id="{11562735-9310-1A5E-7016-719E8327C0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16" r="18116"/>
          <a:stretch/>
        </p:blipFill>
        <p:spPr>
          <a:xfrm>
            <a:off x="6919647" y="529228"/>
            <a:ext cx="1346802" cy="1548827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556134B7-DAEC-E02B-FE28-11D71558C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8721" y="1371438"/>
            <a:ext cx="860926" cy="10651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978872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8AE10FFE-7907-221D-3F01-37C0C5EE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198265" y="5574183"/>
            <a:ext cx="640211" cy="7759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446992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9" name="Freeform: Shape 11">
            <a:extLst>
              <a:ext uri="{FF2B5EF4-FFF2-40B4-BE49-F238E27FC236}">
                <a16:creationId xmlns:a16="http://schemas.microsoft.com/office/drawing/2014/main" id="{91133952-BDAF-85E4-0083-166250E97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6819005" y="311599"/>
            <a:ext cx="1637958" cy="187386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38100" cap="flat" cmpd="sng" algn="ctr">
            <a:solidFill>
              <a:srgbClr val="44699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003ED667-0182-5977-CEC2-17E3BCF6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3263" y="113611"/>
            <a:ext cx="860926" cy="10651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978872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 our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BD53F-D255-3797-F9DC-749DBF8EDF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Peri Small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7BA33-7687-746F-7A99-5769ACAA19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persmall@iu.edu</a:t>
            </a:r>
          </a:p>
        </p:txBody>
      </p:sp>
      <p:pic>
        <p:nvPicPr>
          <p:cNvPr id="52" name="Picture Placeholder 51" descr="A person leaning against a wall&#10;&#10;Description automatically generated">
            <a:extLst>
              <a:ext uri="{FF2B5EF4-FFF2-40B4-BE49-F238E27FC236}">
                <a16:creationId xmlns:a16="http://schemas.microsoft.com/office/drawing/2014/main" id="{6FA36B7F-14F3-90DF-9E76-191C5C5FAC68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3"/>
          <a:srcRect l="-1515" t="9074" r="1256" b="4732"/>
          <a:stretch/>
        </p:blipFill>
        <p:spPr>
          <a:xfrm>
            <a:off x="3741311" y="2128758"/>
            <a:ext cx="2096171" cy="1811964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77216C-99F2-F20D-361E-FC77B2A1C2D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660993" y="4045832"/>
            <a:ext cx="2216933" cy="506399"/>
          </a:xfrm>
        </p:spPr>
        <p:txBody>
          <a:bodyPr/>
          <a:lstStyle/>
          <a:p>
            <a:r>
              <a:rPr lang="en-US"/>
              <a:t>Isabelle Himebaugh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73DA38-7DA2-CC40-82FC-BFB56BC10FC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Ihimebau@iu.edu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386226D-550B-455D-862A-19F0F7E85FD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n-US"/>
              <a:t>Diego Gifford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17DFAED-4F69-372D-790F-14ABD197D92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dgiffor@iu.edu</a:t>
            </a:r>
          </a:p>
        </p:txBody>
      </p:sp>
      <p:pic>
        <p:nvPicPr>
          <p:cNvPr id="46" name="Picture Placeholder 45" descr="A person standing in a yard&#10;&#10;Description automatically generated">
            <a:extLst>
              <a:ext uri="{FF2B5EF4-FFF2-40B4-BE49-F238E27FC236}">
                <a16:creationId xmlns:a16="http://schemas.microsoft.com/office/drawing/2014/main" id="{51777469-AD50-4BAD-6B31-B56D669485CE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4"/>
          <a:srcRect l="-867" t="18372" r="6453" b="12093"/>
          <a:stretch/>
        </p:blipFill>
        <p:spPr>
          <a:xfrm>
            <a:off x="8632722" y="2128161"/>
            <a:ext cx="2106281" cy="1812763"/>
          </a:xfr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32E8129-4557-FB4F-128A-16770815B5B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n-US"/>
              <a:t>Allison Griffin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8DDF0BA-462B-C044-14AF-F2FD2BFBAE3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griffian@iu.edu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B8CE6-4705-57FA-7F0F-F4A5C574996B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0A8DD-65EB-D1E9-81DF-DAAA9451B1A9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/>
          </a:p>
        </p:txBody>
      </p:sp>
      <p:pic>
        <p:nvPicPr>
          <p:cNvPr id="49" name="Picture Placeholder 48" descr="A person giving thumbs up in front of a waterfall&#10;&#10;Description automatically generated">
            <a:extLst>
              <a:ext uri="{FF2B5EF4-FFF2-40B4-BE49-F238E27FC236}">
                <a16:creationId xmlns:a16="http://schemas.microsoft.com/office/drawing/2014/main" id="{554A63EA-7896-2DED-D661-BA5C81B77241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/>
          <a:srcRect l="2721" t="12882" r="-1021" b="22394"/>
          <a:stretch/>
        </p:blipFill>
        <p:spPr>
          <a:xfrm>
            <a:off x="6213027" y="2703778"/>
            <a:ext cx="2110946" cy="1819983"/>
          </a:xfrm>
        </p:spPr>
      </p:pic>
      <p:pic>
        <p:nvPicPr>
          <p:cNvPr id="55" name="Picture Placeholder 5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4B0A05F6-A265-D617-87EB-C8B6D39D74E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6"/>
          <a:srcRect l="21" t="23077" r="309" b="18087"/>
          <a:stretch/>
        </p:blipFill>
        <p:spPr>
          <a:xfrm>
            <a:off x="1205438" y="2703372"/>
            <a:ext cx="2106347" cy="1842285"/>
          </a:xfrm>
          <a:prstGeom prst="hexagon">
            <a:avLst/>
          </a:prstGeom>
        </p:spPr>
      </p:pic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large stack of books&#10;&#10;Description automatically generated">
            <a:extLst>
              <a:ext uri="{FF2B5EF4-FFF2-40B4-BE49-F238E27FC236}">
                <a16:creationId xmlns:a16="http://schemas.microsoft.com/office/drawing/2014/main" id="{91FA103E-79AD-A9E9-7651-9497E329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09" t="4203"/>
          <a:stretch/>
        </p:blipFill>
        <p:spPr>
          <a:xfrm>
            <a:off x="0" y="0"/>
            <a:ext cx="4432852" cy="65697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1596A4-96E8-1FD2-3685-80F63672F850}"/>
              </a:ext>
            </a:extLst>
          </p:cNvPr>
          <p:cNvSpPr/>
          <p:nvPr/>
        </p:nvSpPr>
        <p:spPr>
          <a:xfrm>
            <a:off x="0" y="5990102"/>
            <a:ext cx="4432852" cy="867897"/>
          </a:xfrm>
          <a:prstGeom prst="rect">
            <a:avLst/>
          </a:prstGeom>
          <a:solidFill>
            <a:srgbClr val="9788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49B47-6A01-29EE-4CC4-9904D32800B3}"/>
              </a:ext>
            </a:extLst>
          </p:cNvPr>
          <p:cNvSpPr txBox="1"/>
          <p:nvPr/>
        </p:nvSpPr>
        <p:spPr>
          <a:xfrm>
            <a:off x="427382" y="6162440"/>
            <a:ext cx="3786809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800" dirty="0">
                <a:latin typeface="Amasis MT Pro Black" panose="020F0502020204030204" pitchFamily="18" charset="0"/>
                <a:ea typeface="微软雅黑"/>
                <a:cs typeface="Posterama" panose="020B0504020200020000" pitchFamily="34" charset="0"/>
              </a:rPr>
              <a:t>Margaret Hamilton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B44C6-D29C-58DA-9E95-22EF9331252A}"/>
              </a:ext>
            </a:extLst>
          </p:cNvPr>
          <p:cNvSpPr txBox="1"/>
          <p:nvPr/>
        </p:nvSpPr>
        <p:spPr>
          <a:xfrm>
            <a:off x="4542183" y="553399"/>
            <a:ext cx="4124739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800" b="1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Early Life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110B2-86D5-C0E3-E0FC-E6853CB235F5}"/>
              </a:ext>
            </a:extLst>
          </p:cNvPr>
          <p:cNvSpPr txBox="1"/>
          <p:nvPr/>
        </p:nvSpPr>
        <p:spPr>
          <a:xfrm>
            <a:off x="6077778" y="2498825"/>
            <a:ext cx="3982278" cy="64633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1958 : B.A. in Mathematics from Earlham College.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468EF-3E01-81C7-ADE1-FB27DE4738E0}"/>
              </a:ext>
            </a:extLst>
          </p:cNvPr>
          <p:cNvSpPr txBox="1"/>
          <p:nvPr/>
        </p:nvSpPr>
        <p:spPr>
          <a:xfrm>
            <a:off x="6077778" y="4426657"/>
            <a:ext cx="398227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1961-63 : worked on SAGE Project at Lincoln Lab. 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3D59F-62FA-64D1-B426-47509AC6DC65}"/>
              </a:ext>
            </a:extLst>
          </p:cNvPr>
          <p:cNvSpPr txBox="1"/>
          <p:nvPr/>
        </p:nvSpPr>
        <p:spPr>
          <a:xfrm>
            <a:off x="6077778" y="1565483"/>
            <a:ext cx="3982278" cy="64633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1936 :  Born in Paoli, Indiana (She’s a Hoosier! </a:t>
            </a: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  <a:sym typeface="Wingdings" panose="05000000000000000000" pitchFamily="2" charset="2"/>
              </a:rPr>
              <a:t> </a:t>
            </a: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)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D0C57-75E6-437A-3D25-0C114990C58E}"/>
              </a:ext>
            </a:extLst>
          </p:cNvPr>
          <p:cNvSpPr txBox="1"/>
          <p:nvPr/>
        </p:nvSpPr>
        <p:spPr>
          <a:xfrm>
            <a:off x="6096000" y="3429000"/>
            <a:ext cx="398227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1960 : Worked as a p</a:t>
            </a:r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rogrammer at MIT on weather prediction software  </a:t>
            </a:r>
            <a:endParaRPr lang="en-US" sz="1800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EABA8-7FF6-9D87-ED5E-9DD3AE9DA444}"/>
              </a:ext>
            </a:extLst>
          </p:cNvPr>
          <p:cNvSpPr txBox="1"/>
          <p:nvPr/>
        </p:nvSpPr>
        <p:spPr>
          <a:xfrm>
            <a:off x="6077778" y="5380383"/>
            <a:ext cx="398227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1965 : Started work on the Apollo 11 Mission at MIT</a:t>
            </a:r>
            <a:endParaRPr lang="en-US" sz="1800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5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372" y="808265"/>
            <a:ext cx="5980825" cy="59599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 Hamilton and Apollo 11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19235" y="2911781"/>
            <a:ext cx="1570612" cy="107082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8" name="Picture placeholder 19" descr="A green and white striped paper with numbers&#10;&#10;Description automatically generated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7450" r="27769" b="2"/>
          <a:stretch/>
        </p:blipFill>
        <p:spPr>
          <a:xfrm>
            <a:off x="581710" y="555648"/>
            <a:ext cx="5045662" cy="5783096"/>
          </a:xfrm>
          <a:noFill/>
          <a:ln>
            <a:solidFill>
              <a:schemeClr val="tx1"/>
            </a:solidFill>
          </a:ln>
        </p:spPr>
      </p:pic>
      <p:pic>
        <p:nvPicPr>
          <p:cNvPr id="2" name="Picture placeholder 29">
            <a:extLst>
              <a:ext uri="{FF2B5EF4-FFF2-40B4-BE49-F238E27FC236}">
                <a16:creationId xmlns:a16="http://schemas.microsoft.com/office/drawing/2014/main" id="{A106ECEC-642F-9ED8-E056-E67FF6FFB1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23" r="8423"/>
          <a:stretch/>
        </p:blipFill>
        <p:spPr>
          <a:xfrm>
            <a:off x="1773762" y="1812471"/>
            <a:ext cx="2661557" cy="3233057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60AD1F-87D2-E7FE-708A-250B29CFB66F}"/>
              </a:ext>
            </a:extLst>
          </p:cNvPr>
          <p:cNvSpPr txBox="1"/>
          <p:nvPr/>
        </p:nvSpPr>
        <p:spPr>
          <a:xfrm>
            <a:off x="6096000" y="1859714"/>
            <a:ext cx="4056424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Hamilton was chosen as Director and lead programmer on the Apollo mission</a:t>
            </a:r>
            <a:endParaRPr lang="en-US" sz="1800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5F30C-CE3E-556E-6C69-CFC7E5AA13CF}"/>
              </a:ext>
            </a:extLst>
          </p:cNvPr>
          <p:cNvSpPr txBox="1"/>
          <p:nvPr/>
        </p:nvSpPr>
        <p:spPr>
          <a:xfrm>
            <a:off x="6209413" y="4169089"/>
            <a:ext cx="4208825" cy="646331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Posterama"/>
                <a:ea typeface="微软雅黑"/>
                <a:cs typeface="Posterama"/>
              </a:rPr>
              <a:t>Her team at NASA </a:t>
            </a:r>
            <a:r>
              <a:rPr lang="en-US" sz="1800" dirty="0">
                <a:latin typeface="Posterama"/>
                <a:ea typeface="微软雅黑"/>
                <a:cs typeface="Posterama"/>
              </a:rPr>
              <a:t>developed Apollo’s on-board guidance software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B031A-23B5-C845-797B-1926DE993B05}"/>
              </a:ext>
            </a:extLst>
          </p:cNvPr>
          <p:cNvSpPr txBox="1"/>
          <p:nvPr/>
        </p:nvSpPr>
        <p:spPr>
          <a:xfrm>
            <a:off x="-331" y="6047546"/>
            <a:ext cx="2775096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Part of the AGC source code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Credit: Margaret Hamilton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52F4C-A5C1-3814-A3D8-5B75496AABE4}"/>
              </a:ext>
            </a:extLst>
          </p:cNvPr>
          <p:cNvSpPr txBox="1"/>
          <p:nvPr/>
        </p:nvSpPr>
        <p:spPr>
          <a:xfrm>
            <a:off x="6096000" y="3225169"/>
            <a:ext cx="4208825" cy="646331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Posterama"/>
                <a:ea typeface="微软雅黑"/>
                <a:cs typeface="Posterama"/>
              </a:rPr>
              <a:t>Her team at NASA </a:t>
            </a:r>
            <a:r>
              <a:rPr lang="en-US" sz="1800" dirty="0">
                <a:latin typeface="Posterama"/>
                <a:ea typeface="微软雅黑"/>
                <a:cs typeface="Posterama"/>
              </a:rPr>
              <a:t>developed Apollo’s on-board guidance software</a:t>
            </a:r>
          </a:p>
        </p:txBody>
      </p: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BB65657-9248-88F4-0C5B-DF6FB5AC1801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181C568-6A4A-7A22-D04D-5EFF445CF12A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8DED70-9822-1ED3-A3C5-D378A7EEEDB5}"/>
              </a:ext>
            </a:extLst>
          </p:cNvPr>
          <p:cNvGrpSpPr/>
          <p:nvPr/>
        </p:nvGrpSpPr>
        <p:grpSpPr>
          <a:xfrm>
            <a:off x="380280" y="539660"/>
            <a:ext cx="3469759" cy="6098039"/>
            <a:chOff x="380280" y="539660"/>
            <a:chExt cx="3469759" cy="60980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1DF174-7CA6-9C0C-0710-09F603314D98}"/>
                </a:ext>
              </a:extLst>
            </p:cNvPr>
            <p:cNvGrpSpPr/>
            <p:nvPr/>
          </p:nvGrpSpPr>
          <p:grpSpPr>
            <a:xfrm>
              <a:off x="380280" y="539660"/>
              <a:ext cx="3469759" cy="6098039"/>
              <a:chOff x="501498" y="382771"/>
              <a:chExt cx="3469759" cy="6098039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BE997D7-222B-E31F-84A3-36F5632FDA39}"/>
                  </a:ext>
                </a:extLst>
              </p:cNvPr>
              <p:cNvSpPr/>
              <p:nvPr/>
            </p:nvSpPr>
            <p:spPr>
              <a:xfrm>
                <a:off x="501498" y="382771"/>
                <a:ext cx="3469759" cy="6098039"/>
              </a:xfrm>
              <a:prstGeom prst="rect">
                <a:avLst/>
              </a:prstGeom>
              <a:solidFill>
                <a:srgbClr val="C8C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9" name="Picture 18" descr="A person holding a flag&#10;&#10;Description automatically generated">
                <a:extLst>
                  <a:ext uri="{FF2B5EF4-FFF2-40B4-BE49-F238E27FC236}">
                    <a16:creationId xmlns:a16="http://schemas.microsoft.com/office/drawing/2014/main" id="{362148AB-9A28-9A0A-D0BA-8D437A289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6307" y="528231"/>
                <a:ext cx="3140142" cy="2900769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BC2FBE-170B-7949-404E-78679C9969C6}"/>
                  </a:ext>
                </a:extLst>
              </p:cNvPr>
              <p:cNvSpPr txBox="1"/>
              <p:nvPr/>
            </p:nvSpPr>
            <p:spPr>
              <a:xfrm>
                <a:off x="666306" y="3702618"/>
                <a:ext cx="1889044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:r>
                  <a:rPr lang="en-US" sz="1800" u="sng" dirty="0">
                    <a:latin typeface="Posterama" panose="020B0504020200020000" pitchFamily="34" charset="0"/>
                    <a:ea typeface="微软雅黑"/>
                    <a:cs typeface="Posterama" panose="020B0504020200020000" pitchFamily="34" charset="0"/>
                  </a:rPr>
                  <a:t>Lauren Bug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46E83B-1DBA-3196-6233-748EDA2AF979}"/>
                </a:ext>
              </a:extLst>
            </p:cNvPr>
            <p:cNvSpPr txBox="1"/>
            <p:nvPr/>
          </p:nvSpPr>
          <p:spPr>
            <a:xfrm>
              <a:off x="481774" y="4306185"/>
              <a:ext cx="3285687" cy="175432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/>
                <a:t>The "Lauren Bug" was identified by Margaret Hamilton after her daughter accidentally triggered a pre-launch program, highlighting a risk for Apollo missions.</a:t>
              </a:r>
              <a:endPara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C60AAB-CDAA-1E65-1D57-4DF07BA1B9AC}"/>
              </a:ext>
            </a:extLst>
          </p:cNvPr>
          <p:cNvGrpSpPr/>
          <p:nvPr/>
        </p:nvGrpSpPr>
        <p:grpSpPr>
          <a:xfrm>
            <a:off x="4330761" y="1350223"/>
            <a:ext cx="6463745" cy="2509284"/>
            <a:chOff x="4330761" y="1350223"/>
            <a:chExt cx="6463745" cy="250928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159046E-1DB0-6D90-EA5F-45144D35BF63}"/>
                </a:ext>
              </a:extLst>
            </p:cNvPr>
            <p:cNvGrpSpPr/>
            <p:nvPr/>
          </p:nvGrpSpPr>
          <p:grpSpPr>
            <a:xfrm>
              <a:off x="4330761" y="1350223"/>
              <a:ext cx="6463745" cy="2509284"/>
              <a:chOff x="5061948" y="382771"/>
              <a:chExt cx="6463745" cy="25092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C5E20C7-319A-3A97-4442-485D23906E4A}"/>
                  </a:ext>
                </a:extLst>
              </p:cNvPr>
              <p:cNvSpPr/>
              <p:nvPr/>
            </p:nvSpPr>
            <p:spPr>
              <a:xfrm>
                <a:off x="5061948" y="382771"/>
                <a:ext cx="6463745" cy="2509284"/>
              </a:xfrm>
              <a:prstGeom prst="rect">
                <a:avLst/>
              </a:prstGeom>
              <a:solidFill>
                <a:srgbClr val="C8C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4" descr="A circuit board with wires and cables&#10;&#10;Description automatically generated">
                <a:extLst>
                  <a:ext uri="{FF2B5EF4-FFF2-40B4-BE49-F238E27FC236}">
                    <a16:creationId xmlns:a16="http://schemas.microsoft.com/office/drawing/2014/main" id="{09E82C8C-D1DC-13E8-D689-E3A594008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6021" y="457518"/>
                <a:ext cx="2386614" cy="2349477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E2AB80-36EE-98E4-4F7D-D7608646B504}"/>
                  </a:ext>
                </a:extLst>
              </p:cNvPr>
              <p:cNvSpPr txBox="1"/>
              <p:nvPr/>
            </p:nvSpPr>
            <p:spPr>
              <a:xfrm>
                <a:off x="7562635" y="528231"/>
                <a:ext cx="2386615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:r>
                  <a:rPr lang="en-US" sz="1800" u="sng" dirty="0">
                    <a:latin typeface="Posterama" panose="020B0504020200020000" pitchFamily="34" charset="0"/>
                    <a:ea typeface="微软雅黑"/>
                    <a:cs typeface="Posterama" panose="020B0504020200020000" pitchFamily="34" charset="0"/>
                  </a:rPr>
                  <a:t>Rope Core Memory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CB9030A-69E7-E4F0-E081-A8C857B1FDB6}"/>
                </a:ext>
              </a:extLst>
            </p:cNvPr>
            <p:cNvSpPr txBox="1"/>
            <p:nvPr/>
          </p:nvSpPr>
          <p:spPr>
            <a:xfrm>
              <a:off x="6945519" y="1951672"/>
              <a:ext cx="3681326" cy="120032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b="0" i="0" dirty="0">
                  <a:effectLst/>
                  <a:latin typeface="Blender-Thin"/>
                </a:rPr>
                <a:t>These ropes allowed NASA to store data needed for basic flight procedures without taking up too much room on the ship. </a:t>
              </a:r>
              <a:endPara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FC12EF4-E87F-99E6-A519-5A4056323A98}"/>
              </a:ext>
            </a:extLst>
          </p:cNvPr>
          <p:cNvGrpSpPr/>
          <p:nvPr/>
        </p:nvGrpSpPr>
        <p:grpSpPr>
          <a:xfrm>
            <a:off x="4330761" y="4073761"/>
            <a:ext cx="6463745" cy="2509284"/>
            <a:chOff x="4330761" y="4075218"/>
            <a:chExt cx="6463745" cy="250928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818282-1356-4B1F-BBE4-3F1EFC6B5251}"/>
                </a:ext>
              </a:extLst>
            </p:cNvPr>
            <p:cNvGrpSpPr/>
            <p:nvPr/>
          </p:nvGrpSpPr>
          <p:grpSpPr>
            <a:xfrm>
              <a:off x="4330761" y="4075218"/>
              <a:ext cx="6463745" cy="2509284"/>
              <a:chOff x="5061949" y="3965945"/>
              <a:chExt cx="6463745" cy="250928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D16E991-88E1-683D-3123-8A21A2252403}"/>
                  </a:ext>
                </a:extLst>
              </p:cNvPr>
              <p:cNvSpPr/>
              <p:nvPr/>
            </p:nvSpPr>
            <p:spPr>
              <a:xfrm>
                <a:off x="5061949" y="3965945"/>
                <a:ext cx="6463745" cy="2509284"/>
              </a:xfrm>
              <a:prstGeom prst="rect">
                <a:avLst/>
              </a:prstGeom>
              <a:solidFill>
                <a:srgbClr val="C8C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1" name="Picture 30" descr="A close-up of a plastic box&#10;&#10;Description automatically generated">
                <a:extLst>
                  <a:ext uri="{FF2B5EF4-FFF2-40B4-BE49-F238E27FC236}">
                    <a16:creationId xmlns:a16="http://schemas.microsoft.com/office/drawing/2014/main" id="{98E95661-D729-E0B7-C104-A88CAA7F1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6021" y="4071950"/>
                <a:ext cx="2386614" cy="2328532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D5C5550-3EF6-7FB8-FBBA-E084550D3D38}"/>
                  </a:ext>
                </a:extLst>
              </p:cNvPr>
              <p:cNvSpPr txBox="1"/>
              <p:nvPr/>
            </p:nvSpPr>
            <p:spPr>
              <a:xfrm>
                <a:off x="7676707" y="4071950"/>
                <a:ext cx="3092159" cy="92333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0" u="sng" dirty="0">
                    <a:effectLst/>
                    <a:latin typeface="Posterama" panose="020B0504020200020000" pitchFamily="34" charset="0"/>
                    <a:cs typeface="Posterama" panose="020B0504020200020000" pitchFamily="34" charset="0"/>
                  </a:rPr>
                  <a:t>Keyboard, Display (DSKY), Apollo Guidance Computer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:endParaRPr lang="en-US" sz="1800" u="sng" dirty="0"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4EDF0A-7A16-20FB-83D5-F2E16E3DB49F}"/>
                </a:ext>
              </a:extLst>
            </p:cNvPr>
            <p:cNvSpPr txBox="1"/>
            <p:nvPr/>
          </p:nvSpPr>
          <p:spPr>
            <a:xfrm>
              <a:off x="7086599" y="4921197"/>
              <a:ext cx="3681326" cy="92333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b="0" i="0" dirty="0">
                  <a:effectLst/>
                  <a:latin typeface="Blender-Thin"/>
                </a:rPr>
                <a:t>A digital display with big buttons and communicated with the AGC via a verb-noun interface. </a:t>
              </a:r>
              <a:endPara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E33AD87-2211-1F4D-6A15-7A25CAB98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028" y="248446"/>
            <a:ext cx="4267570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2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EC7FE6-80F6-AB0D-A8CE-349928D952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71609" y="841491"/>
            <a:ext cx="5162709" cy="420683"/>
          </a:xfrm>
        </p:spPr>
        <p:txBody>
          <a:bodyPr/>
          <a:lstStyle/>
          <a:p>
            <a:r>
              <a:rPr lang="en-US">
                <a:cs typeface="Posterama"/>
              </a:rPr>
              <a:t>Software Engineering Field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A3B95-A57F-5D76-0325-2F96C988338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71608" y="1285324"/>
            <a:ext cx="5162709" cy="15061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/>
              <a:t>Developed software for the Apollo mission that was reliable enough to support its success</a:t>
            </a:r>
          </a:p>
          <a:p>
            <a:r>
              <a:rPr lang="en-US" sz="1600"/>
              <a:t>Caused people to think about software as more complex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8465D-058A-6BBF-3E5F-BE9C830DFE4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71609" y="2563153"/>
            <a:ext cx="5162709" cy="420683"/>
          </a:xfrm>
        </p:spPr>
        <p:txBody>
          <a:bodyPr/>
          <a:lstStyle/>
          <a:p>
            <a:r>
              <a:rPr lang="en-US">
                <a:cs typeface="Posterama"/>
              </a:rPr>
              <a:t>Design, Testing, &amp; Verification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1B079-2D13-2320-0F87-27ACF4558A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271607" y="4700154"/>
            <a:ext cx="5162709" cy="421399"/>
          </a:xfrm>
        </p:spPr>
        <p:txBody>
          <a:bodyPr/>
          <a:lstStyle/>
          <a:p>
            <a:r>
              <a:rPr lang="en-US">
                <a:cs typeface="Posterama"/>
              </a:rPr>
              <a:t>Fail-Safe Systems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58929C-0531-E41C-9A8D-50E82F59BA8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71608" y="2981939"/>
            <a:ext cx="5162709" cy="11777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ea typeface="+mn-lt"/>
                <a:cs typeface="+mn-lt"/>
              </a:rPr>
              <a:t>Hamilton's work with error handling, redundancy, real-time computing, and fault tolerance is now used as principles for modern software</a:t>
            </a:r>
          </a:p>
          <a:p>
            <a:r>
              <a:rPr lang="en-US" sz="1600"/>
              <a:t>A few examples are </a:t>
            </a:r>
            <a:r>
              <a:rPr lang="en-US" sz="1600">
                <a:ea typeface="+mn-lt"/>
                <a:cs typeface="+mn-lt"/>
              </a:rPr>
              <a:t>formal methods, automated testing frameworks, and systematic debugging</a:t>
            </a:r>
            <a:endParaRPr lang="en-US" sz="16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0AC5FA-176B-D4CD-F2E6-7BEB70B124D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271608" y="5122986"/>
            <a:ext cx="5162709" cy="16359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/>
              <a:t>Hamilton established rigorous testing to ensure safety on the Apollo mission </a:t>
            </a:r>
          </a:p>
          <a:p>
            <a:r>
              <a:rPr lang="en-US" sz="1600">
                <a:ea typeface="+mn-lt"/>
                <a:cs typeface="+mn-lt"/>
              </a:rPr>
              <a:t>Automated testing, continuous integration, and continuous deployment have blossomed from her emphasis on safety</a:t>
            </a:r>
            <a:endParaRPr lang="en-US" sz="160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2E13F6C-1E50-9B08-484A-C64262FD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>
                <a:latin typeface="Posterama"/>
                <a:ea typeface="+mj-lt"/>
                <a:cs typeface="+mj-lt"/>
              </a:rPr>
              <a:t> </a:t>
            </a:r>
            <a:r>
              <a:rPr lang="en-US" dirty="0">
                <a:latin typeface="Posterama"/>
                <a:ea typeface="+mj-lt"/>
                <a:cs typeface="+mj-lt"/>
              </a:rPr>
              <a:t>Hamilton's Innovations Today</a:t>
            </a:r>
            <a:endParaRPr lang="en-US" dirty="0">
              <a:latin typeface="Posterama"/>
              <a:cs typeface="Posteram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ABCC22-176B-014D-FA28-4B2E2E8F4B1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CE2EB4F0-439B-283F-ADBC-F500FD525355}"/>
              </a:ext>
            </a:extLst>
          </p:cNvPr>
          <p:cNvSpPr/>
          <p:nvPr/>
        </p:nvSpPr>
        <p:spPr>
          <a:xfrm rot="3420000">
            <a:off x="-518058" y="3388368"/>
            <a:ext cx="2657159" cy="2304219"/>
          </a:xfrm>
          <a:prstGeom prst="hexagon">
            <a:avLst>
              <a:gd name="adj" fmla="val 29289"/>
              <a:gd name="vf" fmla="val 115470"/>
            </a:avLst>
          </a:prstGeom>
          <a:solidFill>
            <a:srgbClr val="74B2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0522BD78-B9F7-CB8F-107C-90BD45F7687E}"/>
              </a:ext>
            </a:extLst>
          </p:cNvPr>
          <p:cNvSpPr/>
          <p:nvPr/>
        </p:nvSpPr>
        <p:spPr>
          <a:xfrm rot="780000">
            <a:off x="216647" y="4960471"/>
            <a:ext cx="1359646" cy="1210235"/>
          </a:xfrm>
          <a:prstGeom prst="hexagon">
            <a:avLst/>
          </a:prstGeom>
          <a:solidFill>
            <a:srgbClr val="9788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2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4089-E179-BAB8-96D2-F6951F47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423689"/>
            <a:ext cx="511716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The Future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1A58C-A254-21FA-603E-98BAE8CAE5BE}"/>
              </a:ext>
            </a:extLst>
          </p:cNvPr>
          <p:cNvSpPr txBox="1"/>
          <p:nvPr/>
        </p:nvSpPr>
        <p:spPr>
          <a:xfrm>
            <a:off x="504245" y="1735699"/>
            <a:ext cx="5875436" cy="355373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altLang="zh-CN" sz="2000" b="0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Fault-tolerant AI </a:t>
            </a:r>
            <a:r>
              <a:rPr lang="en-US" altLang="zh-CN" sz="2000">
                <a:solidFill>
                  <a:schemeClr val="accent6"/>
                </a:solidFill>
              </a:rPr>
              <a:t>systems</a:t>
            </a:r>
            <a:endParaRPr lang="en-US" sz="2000">
              <a:solidFill>
                <a:schemeClr val="accent6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altLang="zh-CN" sz="2000">
                <a:solidFill>
                  <a:schemeClr val="accent6"/>
                </a:solidFill>
              </a:rPr>
              <a:t>Ex</a:t>
            </a:r>
            <a:r>
              <a:rPr lang="en-US" altLang="zh-CN" sz="2000" b="0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: AI systems used in healthcare, autonomous vehicles, and space exploration </a:t>
            </a:r>
            <a:endParaRPr lang="en-US" sz="2000" b="0" kern="1200">
              <a:solidFill>
                <a:schemeClr val="accent6"/>
              </a:solidFill>
              <a:latin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altLang="zh-CN" sz="2000" b="0" kern="1200">
              <a:solidFill>
                <a:schemeClr val="accent6"/>
              </a:solidFill>
              <a:latin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altLang="zh-CN" sz="2000" b="0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Quantum computing</a:t>
            </a:r>
            <a:endParaRPr lang="en-US" altLang="zh-CN" sz="2000" b="0" kern="1200">
              <a:solidFill>
                <a:schemeClr val="accent6"/>
              </a:solidFill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altLang="zh-CN" sz="2000" b="0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Hamilton's ideas of redundancy and real-time computing help with systems where small errors can have very large impacts</a:t>
            </a:r>
            <a:endParaRPr lang="en-US" altLang="zh-CN" sz="2000" b="0" kern="1200">
              <a:solidFill>
                <a:schemeClr val="accent6"/>
              </a:solidFill>
              <a:latin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altLang="zh-CN" b="0" kern="1200">
              <a:solidFill>
                <a:schemeClr val="accent6"/>
              </a:solidFill>
              <a:latin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altLang="zh-CN" sz="1300" b="0" kern="120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altLang="zh-CN" sz="1300" b="0" kern="120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altLang="zh-CN" sz="1300" b="0" kern="120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Robot operating a machine">
            <a:extLst>
              <a:ext uri="{FF2B5EF4-FFF2-40B4-BE49-F238E27FC236}">
                <a16:creationId xmlns:a16="http://schemas.microsoft.com/office/drawing/2014/main" id="{29C221B5-151D-A268-CA43-08E9BD29A0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92" r="13458" b="1"/>
          <a:stretch/>
        </p:blipFill>
        <p:spPr>
          <a:xfrm>
            <a:off x="6641691" y="506841"/>
            <a:ext cx="5637041" cy="601606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  <a:ln>
            <a:noFill/>
          </a:ln>
          <a:effectLst>
            <a:softEdge rad="112500"/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4A29E-1C75-1FC0-45BD-3F6A8E3BE85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7</a:t>
            </a:fld>
            <a:endParaRPr lang="en-US" altLang="zh-CN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776A1756-F14A-0169-2FBA-959C2D388A9F}"/>
              </a:ext>
            </a:extLst>
          </p:cNvPr>
          <p:cNvSpPr/>
          <p:nvPr/>
        </p:nvSpPr>
        <p:spPr>
          <a:xfrm>
            <a:off x="8041267" y="5228683"/>
            <a:ext cx="2255024" cy="1970048"/>
          </a:xfrm>
          <a:prstGeom prst="hexag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824D4C0-80DE-DC89-86AD-E4EAC3E45637}"/>
              </a:ext>
            </a:extLst>
          </p:cNvPr>
          <p:cNvSpPr/>
          <p:nvPr/>
        </p:nvSpPr>
        <p:spPr>
          <a:xfrm rot="-2100000">
            <a:off x="6455316" y="6213708"/>
            <a:ext cx="2255024" cy="1970048"/>
          </a:xfrm>
          <a:prstGeom prst="hexag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EBC9E594-55F1-265A-9550-9C7392DE14C8}"/>
              </a:ext>
            </a:extLst>
          </p:cNvPr>
          <p:cNvSpPr/>
          <p:nvPr/>
        </p:nvSpPr>
        <p:spPr>
          <a:xfrm rot="2460000">
            <a:off x="9844047" y="5711901"/>
            <a:ext cx="1164684" cy="1009804"/>
          </a:xfrm>
          <a:prstGeom prst="hexag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0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EDCFB16-C419-6541-EC2E-9B38FC6DD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62051" y="378166"/>
            <a:ext cx="2239333" cy="295192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6132"/>
            <a:ext cx="10557933" cy="1665766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Posterama"/>
                <a:cs typeface="Posterama"/>
              </a:rPr>
              <a:t>Website Overview – Home Page</a:t>
            </a:r>
            <a:endParaRPr lang="en-US" sz="1800" b="0">
              <a:solidFill>
                <a:schemeClr val="tx1"/>
              </a:solidFill>
              <a:latin typeface="Posterama"/>
              <a:cs typeface="Posteram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387253"/>
            <a:ext cx="4989688" cy="463901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file:///Users/perismall/Desktop/i101group-project/index.html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123543C-7602-3777-678D-DA8E500A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84" r="-171" b="-132"/>
          <a:stretch/>
        </p:blipFill>
        <p:spPr>
          <a:xfrm>
            <a:off x="1619418" y="1308029"/>
            <a:ext cx="8950914" cy="50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CC84B-CDB5-7BF4-27EC-907301FC81E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9D52C-353E-3619-13E5-D63705BE460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A8E7E4E2-D3F1-9F64-1DE3-9140B028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05" y="417090"/>
            <a:ext cx="3994173" cy="2277580"/>
          </a:xfrm>
        </p:spPr>
        <p:txBody>
          <a:bodyPr/>
          <a:lstStyle/>
          <a:p>
            <a:r>
              <a:rPr lang="en-US"/>
              <a:t>Exploring an Iterative Design Process</a:t>
            </a:r>
          </a:p>
        </p:txBody>
      </p:sp>
      <p:pic>
        <p:nvPicPr>
          <p:cNvPr id="9" name="Picture Placeholder 191" descr="Home with solid fill">
            <a:extLst>
              <a:ext uri="{FF2B5EF4-FFF2-40B4-BE49-F238E27FC236}">
                <a16:creationId xmlns:a16="http://schemas.microsoft.com/office/drawing/2014/main" id="{D19911F4-9F62-4FFA-AD24-161E0A015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4" r="5134"/>
          <a:stretch>
            <a:fillRect/>
          </a:stretch>
        </p:blipFill>
        <p:spPr>
          <a:xfrm>
            <a:off x="5445761" y="534026"/>
            <a:ext cx="507778" cy="565882"/>
          </a:xfrm>
          <a:prstGeom prst="rect">
            <a:avLst/>
          </a:prstGeom>
        </p:spPr>
      </p:pic>
      <p:pic>
        <p:nvPicPr>
          <p:cNvPr id="15" name="Picture Placeholder 191" descr="Clipboard with solid fill">
            <a:extLst>
              <a:ext uri="{FF2B5EF4-FFF2-40B4-BE49-F238E27FC236}">
                <a16:creationId xmlns:a16="http://schemas.microsoft.com/office/drawing/2014/main" id="{466173C5-C9CA-881F-3DF1-FFD889F69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34" r="5134"/>
          <a:stretch>
            <a:fillRect/>
          </a:stretch>
        </p:blipFill>
        <p:spPr>
          <a:xfrm>
            <a:off x="5459491" y="1926108"/>
            <a:ext cx="507778" cy="565882"/>
          </a:xfrm>
          <a:prstGeom prst="rect">
            <a:avLst/>
          </a:prstGeom>
        </p:spPr>
      </p:pic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42655120-BDDC-38C2-4101-F50FADF5BFDF}"/>
              </a:ext>
            </a:extLst>
          </p:cNvPr>
          <p:cNvSpPr txBox="1">
            <a:spLocks/>
          </p:cNvSpPr>
          <p:nvPr/>
        </p:nvSpPr>
        <p:spPr>
          <a:xfrm>
            <a:off x="5996928" y="1809675"/>
            <a:ext cx="5162709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Posterama"/>
              </a:rPr>
              <a:t>About</a:t>
            </a:r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BABE82A-D7CE-49FB-9903-AFD58E8F3180}"/>
              </a:ext>
            </a:extLst>
          </p:cNvPr>
          <p:cNvSpPr txBox="1">
            <a:spLocks/>
          </p:cNvSpPr>
          <p:nvPr/>
        </p:nvSpPr>
        <p:spPr>
          <a:xfrm>
            <a:off x="5985554" y="2247822"/>
            <a:ext cx="5174082" cy="9545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Improved page layout</a:t>
            </a:r>
          </a:p>
          <a:p>
            <a:r>
              <a:rPr lang="en-US"/>
              <a:t>Stylized links</a:t>
            </a:r>
          </a:p>
          <a:p>
            <a:r>
              <a:rPr lang="en-US"/>
              <a:t>Updated placeholder text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</p:txBody>
      </p:sp>
      <p:pic>
        <p:nvPicPr>
          <p:cNvPr id="21" name="Picture Placeholder 191" descr="User with solid fill">
            <a:extLst>
              <a:ext uri="{FF2B5EF4-FFF2-40B4-BE49-F238E27FC236}">
                <a16:creationId xmlns:a16="http://schemas.microsoft.com/office/drawing/2014/main" id="{96C82BBA-DB4C-20FF-BB4C-99496A09D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34" r="5134"/>
          <a:stretch>
            <a:fillRect/>
          </a:stretch>
        </p:blipFill>
        <p:spPr>
          <a:xfrm>
            <a:off x="5442431" y="3600828"/>
            <a:ext cx="507778" cy="56588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BC08B985-1F3B-938B-D677-4661EF1C308B}"/>
              </a:ext>
            </a:extLst>
          </p:cNvPr>
          <p:cNvSpPr txBox="1">
            <a:spLocks/>
          </p:cNvSpPr>
          <p:nvPr/>
        </p:nvSpPr>
        <p:spPr>
          <a:xfrm>
            <a:off x="5979868" y="3484395"/>
            <a:ext cx="5162709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Posterama"/>
              </a:rPr>
              <a:t>Authors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361DE3A-FD53-007A-DC6C-FBA0009F5D85}"/>
              </a:ext>
            </a:extLst>
          </p:cNvPr>
          <p:cNvSpPr txBox="1">
            <a:spLocks/>
          </p:cNvSpPr>
          <p:nvPr/>
        </p:nvSpPr>
        <p:spPr>
          <a:xfrm>
            <a:off x="5968494" y="3922542"/>
            <a:ext cx="5174082" cy="9545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Improved page layout</a:t>
            </a:r>
          </a:p>
          <a:p>
            <a:r>
              <a:rPr lang="en-US"/>
              <a:t>Full dynamic background</a:t>
            </a:r>
          </a:p>
          <a:p>
            <a:r>
              <a:rPr lang="en-US"/>
              <a:t>Updated photos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27" name="Picture Placeholder 191" descr="Daily calendar with solid fill">
            <a:extLst>
              <a:ext uri="{FF2B5EF4-FFF2-40B4-BE49-F238E27FC236}">
                <a16:creationId xmlns:a16="http://schemas.microsoft.com/office/drawing/2014/main" id="{E1F09067-B4E1-7666-3960-FA8C015998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134" r="5134"/>
          <a:stretch>
            <a:fillRect/>
          </a:stretch>
        </p:blipFill>
        <p:spPr>
          <a:xfrm>
            <a:off x="5407901" y="5159050"/>
            <a:ext cx="507778" cy="565882"/>
          </a:xfrm>
          <a:prstGeom prst="rect">
            <a:avLst/>
          </a:prstGeom>
        </p:spPr>
      </p:pic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B1A5FB7-4F68-2F4E-282A-A57616AEAF79}"/>
              </a:ext>
            </a:extLst>
          </p:cNvPr>
          <p:cNvSpPr txBox="1">
            <a:spLocks/>
          </p:cNvSpPr>
          <p:nvPr/>
        </p:nvSpPr>
        <p:spPr>
          <a:xfrm>
            <a:off x="5945338" y="5042617"/>
            <a:ext cx="5162709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Posterama"/>
              </a:rPr>
              <a:t>Process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AD1C495A-86A9-0804-DF5F-FB64033E3F1D}"/>
              </a:ext>
            </a:extLst>
          </p:cNvPr>
          <p:cNvSpPr txBox="1">
            <a:spLocks/>
          </p:cNvSpPr>
          <p:nvPr/>
        </p:nvSpPr>
        <p:spPr>
          <a:xfrm>
            <a:off x="5933964" y="5480764"/>
            <a:ext cx="5174082" cy="9545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Improved page layout</a:t>
            </a:r>
          </a:p>
          <a:p>
            <a:r>
              <a:rPr lang="en-US"/>
              <a:t>Full dynamic background</a:t>
            </a:r>
          </a:p>
          <a:p>
            <a:r>
              <a:rPr lang="en-US"/>
              <a:t>Updated placeholder text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37" name="Hexagon 36">
            <a:extLst>
              <a:ext uri="{FF2B5EF4-FFF2-40B4-BE49-F238E27FC236}">
                <a16:creationId xmlns:a16="http://schemas.microsoft.com/office/drawing/2014/main" id="{DBCF51B2-2505-A1A8-1B58-99FB415C664B}"/>
              </a:ext>
            </a:extLst>
          </p:cNvPr>
          <p:cNvSpPr>
            <a:spLocks noChangeAspect="1"/>
          </p:cNvSpPr>
          <p:nvPr/>
        </p:nvSpPr>
        <p:spPr>
          <a:xfrm rot="1500000">
            <a:off x="463229" y="3783425"/>
            <a:ext cx="2323563" cy="2049269"/>
          </a:xfrm>
          <a:prstGeom prst="hexagon">
            <a:avLst/>
          </a:prstGeom>
          <a:solidFill>
            <a:srgbClr val="BDC8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Hexagon 39">
            <a:extLst>
              <a:ext uri="{FF2B5EF4-FFF2-40B4-BE49-F238E27FC236}">
                <a16:creationId xmlns:a16="http://schemas.microsoft.com/office/drawing/2014/main" id="{6FC90245-6D58-62C7-A6B1-ED1B2082801D}"/>
              </a:ext>
            </a:extLst>
          </p:cNvPr>
          <p:cNvSpPr>
            <a:spLocks noChangeAspect="1"/>
          </p:cNvSpPr>
          <p:nvPr/>
        </p:nvSpPr>
        <p:spPr>
          <a:xfrm rot="1500000">
            <a:off x="1692258" y="3168639"/>
            <a:ext cx="2312830" cy="1999476"/>
          </a:xfrm>
          <a:prstGeom prst="hexagon">
            <a:avLst/>
          </a:prstGeom>
          <a:noFill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2B4C8E4-D553-2507-5929-930E648AB8A4}"/>
              </a:ext>
            </a:extLst>
          </p:cNvPr>
          <p:cNvSpPr txBox="1">
            <a:spLocks/>
          </p:cNvSpPr>
          <p:nvPr/>
        </p:nvSpPr>
        <p:spPr>
          <a:xfrm>
            <a:off x="6058712" y="374918"/>
            <a:ext cx="5162709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Posterama"/>
              </a:rPr>
              <a:t>Home</a:t>
            </a:r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76270A58-E5F2-6039-391B-FAF7D1120562}"/>
              </a:ext>
            </a:extLst>
          </p:cNvPr>
          <p:cNvSpPr txBox="1">
            <a:spLocks/>
          </p:cNvSpPr>
          <p:nvPr/>
        </p:nvSpPr>
        <p:spPr>
          <a:xfrm>
            <a:off x="6047338" y="813065"/>
            <a:ext cx="5174082" cy="9545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Partial dynamic background</a:t>
            </a:r>
          </a:p>
          <a:p>
            <a:r>
              <a:rPr lang="en-US"/>
              <a:t>Titles and stylized links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2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168B-6A04-41AB-30D0-F25A11C8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1" y="2874140"/>
            <a:ext cx="10515600" cy="1115434"/>
          </a:xfrm>
        </p:spPr>
        <p:txBody>
          <a:bodyPr/>
          <a:lstStyle/>
          <a:p>
            <a:pPr algn="ctr"/>
            <a:r>
              <a:rPr lang="en-US"/>
              <a:t>Thank you!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8D090-8EE6-D772-BE89-0BE4FA38CBF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8390C1BA-97B1-D113-8BBB-89B9B19B8B22}"/>
              </a:ext>
            </a:extLst>
          </p:cNvPr>
          <p:cNvSpPr/>
          <p:nvPr/>
        </p:nvSpPr>
        <p:spPr>
          <a:xfrm>
            <a:off x="2945027" y="2155567"/>
            <a:ext cx="5944971" cy="2086919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vintage robot">
            <a:extLst>
              <a:ext uri="{FF2B5EF4-FFF2-40B4-BE49-F238E27FC236}">
                <a16:creationId xmlns:a16="http://schemas.microsoft.com/office/drawing/2014/main" id="{92AED935-4787-E47D-70BB-5586955FA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 l="83" t="-1699" r="-2959" b="-1149"/>
          <a:stretch/>
        </p:blipFill>
        <p:spPr>
          <a:xfrm rot="-240000">
            <a:off x="2311192" y="4427028"/>
            <a:ext cx="2217043" cy="2242643"/>
          </a:xfrm>
          <a:prstGeom prst="rect">
            <a:avLst/>
          </a:prstGeom>
          <a:effectLst>
            <a:outerShdw blurRad="736600" dir="6000000">
              <a:srgbClr val="000000">
                <a:alpha val="40000"/>
              </a:srgbClr>
            </a:outerShdw>
            <a:reflection blurRad="558800" stA="16000" endPos="60000" dist="5969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912335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11997D-2559-4D54-8469-327570B1872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AD51DF-C727-4608-B606-5D6C957D4C4D}">
  <ds:schemaRefs>
    <ds:schemaRef ds:uri="http://schemas.microsoft.com/office/2006/metadata/properties"/>
    <ds:schemaRef ds:uri="71af3243-3dd4-4a8d-8c0d-dd76da1f02a5"/>
    <ds:schemaRef ds:uri="http://schemas.microsoft.com/sharepoint/v3"/>
    <ds:schemaRef ds:uri="http://purl.org/dc/dcmitype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16c05727-aa75-4e4a-9b5f-8a80a1165891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528</Words>
  <Application>Microsoft Office PowerPoint</Application>
  <PresentationFormat>Widescreen</PresentationFormat>
  <Paragraphs>85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等线</vt:lpstr>
      <vt:lpstr>Abadi</vt:lpstr>
      <vt:lpstr>Amasis MT Pro Black</vt:lpstr>
      <vt:lpstr>Arial</vt:lpstr>
      <vt:lpstr>Blender-Thin</vt:lpstr>
      <vt:lpstr>Calibri</vt:lpstr>
      <vt:lpstr>Courier New</vt:lpstr>
      <vt:lpstr>Posterama</vt:lpstr>
      <vt:lpstr>Posterama Text Black</vt:lpstr>
      <vt:lpstr>Posterama Text SemiBold</vt:lpstr>
      <vt:lpstr>Custom</vt:lpstr>
      <vt:lpstr>i101 Semester Project Overview</vt:lpstr>
      <vt:lpstr>Meet our team</vt:lpstr>
      <vt:lpstr>PowerPoint Presentation</vt:lpstr>
      <vt:lpstr> Hamilton and Apollo 11</vt:lpstr>
      <vt:lpstr>PowerPoint Presentation</vt:lpstr>
      <vt:lpstr> Hamilton's Innovations Today</vt:lpstr>
      <vt:lpstr>The Future</vt:lpstr>
      <vt:lpstr>Website Overview – Home Page</vt:lpstr>
      <vt:lpstr>Exploring an Iterative Design Process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Allie Griffin</dc:creator>
  <cp:lastModifiedBy>Griffin, Allison Nicole</cp:lastModifiedBy>
  <cp:revision>2</cp:revision>
  <dcterms:created xsi:type="dcterms:W3CDTF">2024-11-13T12:58:58Z</dcterms:created>
  <dcterms:modified xsi:type="dcterms:W3CDTF">2024-11-14T22:10:28Z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